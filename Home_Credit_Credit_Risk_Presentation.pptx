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2" d="100"/>
          <a:sy n="112" d="100"/>
        </p:scale>
        <p:origin x="516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049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262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098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4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0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46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634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8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302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021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564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44E52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D24"/>
                </a:solidFill>
                <a:latin typeface="Calibri"/>
              </a:rPr>
              <a:t>Review capacity is limited, but applications aren't risk-ranked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2688336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94944" y="1828800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A"/>
                </a:solidFill>
                <a:latin typeface="Calibri"/>
              </a:rPr>
              <a:t>LABELLED APPLICANTS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048256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D24"/>
                </a:solidFill>
                <a:latin typeface="Calibri"/>
              </a:rPr>
              <a:t>307,511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2532888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B7A"/>
                </a:solidFill>
                <a:latin typeface="Calibri"/>
              </a:rPr>
              <a:t>with a known 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4136" y="1737360"/>
            <a:ext cx="2688336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828800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A"/>
                </a:solidFill>
                <a:latin typeface="Calibri"/>
              </a:rPr>
              <a:t>PAYMENT DIFFICULTY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048256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C44E52"/>
                </a:solidFill>
                <a:latin typeface="Calibri"/>
              </a:rPr>
              <a:t>8.07%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532888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B7A"/>
                </a:solidFill>
                <a:latin typeface="Calibri"/>
              </a:rPr>
              <a:t>base rate in the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737360"/>
            <a:ext cx="2688336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45936" y="1828800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A"/>
                </a:solidFill>
                <a:latin typeface="Calibri"/>
              </a:rPr>
              <a:t>REVIEW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5936" y="2048256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D24"/>
                </a:solidFill>
                <a:latin typeface="Calibri"/>
              </a:rPr>
              <a:t>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5936" y="2532888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B7A"/>
                </a:solidFill>
                <a:latin typeface="Calibri"/>
              </a:rPr>
              <a:t>of applications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25128" y="1737360"/>
            <a:ext cx="2688336" cy="173736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71432" y="1828800"/>
            <a:ext cx="23957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A"/>
                </a:solidFill>
                <a:latin typeface="Calibri"/>
              </a:rPr>
              <a:t>REVIEW 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2048256"/>
            <a:ext cx="2395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C44E52"/>
                </a:solidFill>
                <a:latin typeface="Calibri"/>
              </a:rPr>
              <a:t>Not risk-ranked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1432" y="2532888"/>
            <a:ext cx="23957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B7A"/>
                </a:solidFill>
                <a:latin typeface="Calibri"/>
              </a:rPr>
              <a:t>capacity spent ~randomly vs. actual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11091672" cy="1371600"/>
          </a:xfrm>
          <a:prstGeom prst="rect">
            <a:avLst/>
          </a:prstGeom>
          <a:solidFill>
            <a:srgbClr val="F4F6F8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1148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5B"/>
                </a:solidFill>
                <a:latin typeface="Calibri"/>
              </a:rPr>
              <a:t>GOAL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A1D24"/>
                </a:solidFill>
                <a:latin typeface="Calibri"/>
              </a:rPr>
              <a:t>Rank applicants by payment difficulty, while keeping decisions explainable.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126480"/>
            <a:ext cx="111556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latin typeface="Calibri"/>
              </a:rPr>
              <a:t>Full population (307,511 applicants); the four facts above are drawn from that population and the stated review-capacity assumption.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5C9E"/>
                </a:solidFill>
                <a:latin typeface="Calibri"/>
              </a:rPr>
              <a:t>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D24"/>
                </a:solidFill>
                <a:latin typeface="Calibri"/>
              </a:rPr>
              <a:t>Two models with different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993184" y="1371600"/>
            <a:ext cx="4206240" cy="384048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93184" y="1371600"/>
            <a:ext cx="4206240" cy="31750"/>
          </a:xfrm>
          <a:prstGeom prst="rect">
            <a:avLst/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993184" y="1371600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D24"/>
                </a:solidFill>
                <a:latin typeface="Calibri"/>
              </a:rPr>
              <a:t>7 SOURCE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6779" y="1755648"/>
            <a:ext cx="19050" cy="201168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59144" y="1828800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93184" y="1956816"/>
            <a:ext cx="4206240" cy="384048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993184" y="1956816"/>
            <a:ext cx="4206240" cy="31750"/>
          </a:xfrm>
          <a:prstGeom prst="rect">
            <a:avLst/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93184" y="1956816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D24"/>
                </a:solidFill>
                <a:latin typeface="Calibri"/>
              </a:rPr>
              <a:t>Applicant-level aggregation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6779" y="2340864"/>
            <a:ext cx="19050" cy="201168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59144" y="2414016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93184" y="2542032"/>
            <a:ext cx="4206240" cy="384048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93184" y="2542032"/>
            <a:ext cx="4206240" cy="31750"/>
          </a:xfrm>
          <a:prstGeom prst="rect">
            <a:avLst/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993184" y="254203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D24"/>
                </a:solidFill>
                <a:latin typeface="Calibri"/>
              </a:rPr>
              <a:t>Business-risk 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6779" y="2926080"/>
            <a:ext cx="19050" cy="150876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 flipV="1">
            <a:off x="3993184" y="3031235"/>
            <a:ext cx="4054298" cy="45719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75074" y="3021839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3023108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dirty="0">
                <a:solidFill>
                  <a:srgbClr val="5F6B7A"/>
                </a:solidFill>
                <a:latin typeface="Calibr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75864" y="3200400"/>
            <a:ext cx="3291840" cy="50292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575864" y="3200400"/>
            <a:ext cx="3291840" cy="3175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75864" y="3200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D24"/>
                </a:solidFill>
                <a:latin typeface="Calibri"/>
              </a:rPr>
              <a:t>WOE + Logistic
Scorecard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4904" y="3200400"/>
            <a:ext cx="3291840" cy="50292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24904" y="3200400"/>
            <a:ext cx="3291840" cy="31750"/>
          </a:xfrm>
          <a:prstGeom prst="rect">
            <a:avLst/>
          </a:prstGeom>
          <a:solidFill>
            <a:srgbClr val="2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4904" y="320040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D24"/>
                </a:solidFill>
                <a:latin typeface="Calibri"/>
              </a:rPr>
              <a:t>XGBoost
Ranking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2259" y="3703320"/>
            <a:ext cx="19050" cy="123444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61299" y="3703320"/>
            <a:ext cx="19050" cy="123444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221784" y="3826764"/>
            <a:ext cx="3749040" cy="1905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086779" y="3826764"/>
            <a:ext cx="19050" cy="150876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59144" y="3849624"/>
            <a:ext cx="274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93184" y="3977639"/>
            <a:ext cx="4206240" cy="384048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993184" y="3977639"/>
            <a:ext cx="4206240" cy="31750"/>
          </a:xfrm>
          <a:prstGeom prst="rect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993184" y="3977639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A1D24"/>
                </a:solidFill>
                <a:latin typeface="Calibri"/>
              </a:rPr>
              <a:t>Compare + Stability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029200"/>
            <a:ext cx="3602736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5138928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F5C9E"/>
                </a:solidFill>
                <a:latin typeface="Calibri"/>
              </a:rPr>
              <a:t>WOE fitted inside the pipeline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522976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binning refits per fold; feature selection runs once on train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5029200"/>
            <a:ext cx="3602736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453128" y="5138928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F5C9E"/>
                </a:solidFill>
                <a:latin typeface="Calibri"/>
              </a:rPr>
              <a:t>Gender excluded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53128" y="5522976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a deliberate fairness choice, not an oversight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28432" y="5029200"/>
            <a:ext cx="3602736" cy="114300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193024" y="5138928"/>
            <a:ext cx="3273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F5C9E"/>
                </a:solidFill>
                <a:latin typeface="Calibri"/>
              </a:rPr>
              <a:t>Class weighting, not oversampling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93024" y="5522976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same rebalancing, no duplicated rows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F5C9E"/>
                </a:solidFill>
                <a:latin typeface="Calibri"/>
              </a:rPr>
              <a:t>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A1D24"/>
                </a:solidFill>
                <a:latin typeface="Calibri"/>
              </a:rPr>
              <a:t>The first solution was not the final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02736" cy="3042285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602736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288536" y="1463040"/>
            <a:ext cx="3602736" cy="305181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288536" y="1463040"/>
            <a:ext cx="3602736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028432" y="1463040"/>
            <a:ext cx="3602736" cy="335661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028432" y="1463040"/>
            <a:ext cx="3602736" cy="3810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609344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D24"/>
                </a:solidFill>
                <a:latin typeface="Calibri"/>
              </a:rPr>
              <a:t>1. Boosting overfit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084832"/>
            <a:ext cx="3236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Calibri"/>
              </a:rPr>
              <a:t>Train AUC </a:t>
            </a:r>
            <a:r>
              <a:rPr sz="1200">
                <a:solidFill>
                  <a:srgbClr val="5F6B7A"/>
                </a:solidFill>
                <a:latin typeface="Calibri"/>
              </a:rPr>
              <a:t>0.993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Calibri"/>
              </a:rPr>
              <a:t>Valid AUC </a:t>
            </a:r>
            <a:r>
              <a:rPr sz="1200">
                <a:solidFill>
                  <a:srgbClr val="5F6B7A"/>
                </a:solidFill>
                <a:latin typeface="Calibri"/>
              </a:rPr>
              <a:t>0.725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Calibri"/>
              </a:rPr>
              <a:t>Gap </a:t>
            </a:r>
            <a:r>
              <a:rPr sz="1200">
                <a:solidFill>
                  <a:srgbClr val="5F6B7A"/>
                </a:solidFill>
                <a:latin typeface="Calibri"/>
              </a:rPr>
              <a:t>+0.27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8328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A"/>
                </a:solidFill>
                <a:latin typeface="Calibri"/>
              </a:rPr>
              <a:t>→ constrained depth / leaf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4904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5B"/>
                </a:solidFill>
                <a:latin typeface="Calibri"/>
              </a:rPr>
              <a:t>→ final gap +0.030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609344"/>
            <a:ext cx="3236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D24"/>
                </a:solidFill>
                <a:latin typeface="Calibri"/>
              </a:rPr>
              <a:t>2. IV threshold too aggressive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286000"/>
            <a:ext cx="323697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IV &gt; 0.60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automatic exclusion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50">
                <a:solidFill>
                  <a:srgbClr val="1A1D24"/>
                </a:solidFill>
                <a:latin typeface="Calibri"/>
              </a:rPr>
              <a:t>EXT_SOURCE_MEAN removed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657600"/>
            <a:ext cx="323697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6B7A"/>
                </a:solidFill>
                <a:latin typeface="Calibri"/>
              </a:rPr>
              <a:t>→ realised high IV ≠ automatic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4069080"/>
            <a:ext cx="32369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E7D5B"/>
                </a:solidFill>
                <a:latin typeface="Calibri"/>
              </a:rPr>
              <a:t>→ changed to provenance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609344"/>
            <a:ext cx="32369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A1D24"/>
                </a:solidFill>
                <a:latin typeface="Calibri"/>
              </a:rPr>
              <a:t>3. Segmentation hypothesis wrong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286000"/>
            <a:ext cx="3236976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A1D24"/>
                </a:solidFill>
                <a:latin typeface="Calibri"/>
              </a:rPr>
              <a:t>Expected: </a:t>
            </a:r>
            <a:r>
              <a:rPr sz="1050">
                <a:solidFill>
                  <a:srgbClr val="5F6B7A"/>
                </a:solidFill>
                <a:latin typeface="Calibri"/>
              </a:rPr>
              <a:t>thin-file applicants = weakest model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050" b="1">
                <a:solidFill>
                  <a:srgbClr val="1A1D24"/>
                </a:solidFill>
                <a:latin typeface="Calibri"/>
              </a:rPr>
              <a:t>Observed: </a:t>
            </a:r>
            <a:r>
              <a:rPr sz="1050">
                <a:solidFill>
                  <a:srgbClr val="5F6B7A"/>
                </a:solidFill>
                <a:latin typeface="Calibri"/>
              </a:rPr>
              <a:t>external-score availability was the stronger gradient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4069080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2E7D5B"/>
                </a:solidFill>
                <a:latin typeface="Calibri"/>
              </a:rPr>
              <a:t>AUC 0.793 → 0.783 → 0.763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4370832"/>
            <a:ext cx="3236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6B7A"/>
                </a:solidFill>
                <a:latin typeface="Calibri"/>
              </a:rPr>
              <a:t>as external scores go 3 external score(s) → 1 external score(s)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5B"/>
                </a:solidFill>
                <a:latin typeface="Calibri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 err="1">
                <a:solidFill>
                  <a:srgbClr val="1A1D24"/>
                </a:solidFill>
                <a:latin typeface="Calibri"/>
              </a:rPr>
              <a:t>XGBoost</a:t>
            </a:r>
            <a:r>
              <a:rPr sz="2700" b="1" dirty="0">
                <a:solidFill>
                  <a:srgbClr val="1A1D24"/>
                </a:solidFill>
                <a:latin typeface="Calibri"/>
              </a:rPr>
              <a:t> ranks better - the disagreement shows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6B7A"/>
                </a:solidFill>
                <a:latin typeface="Calibri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46304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6B7A"/>
                </a:solidFill>
                <a:latin typeface="Calibri"/>
              </a:rPr>
              <a:t>CV 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46304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6B7A"/>
                </a:solidFill>
                <a:latin typeface="Calibri"/>
              </a:rPr>
              <a:t>Valid 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6304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F6B7A"/>
                </a:solidFill>
                <a:latin typeface="Calibri"/>
              </a:rPr>
              <a:t>PR-AUC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7393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5B"/>
                </a:solidFill>
                <a:latin typeface="Calibri"/>
              </a:rPr>
              <a:t>Scorecard LR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7739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D24"/>
                </a:solidFill>
                <a:latin typeface="Calibri"/>
              </a:rPr>
              <a:t>0.750 ± 0.0035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17739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D24"/>
                </a:solidFill>
                <a:latin typeface="Calibri"/>
              </a:rPr>
              <a:t>0.7516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177393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D24"/>
                </a:solidFill>
                <a:latin typeface="Calibri"/>
              </a:rPr>
              <a:t>0.2327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139696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F5C9E"/>
                </a:solidFill>
                <a:latin typeface="Calibri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1396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D24"/>
                </a:solidFill>
                <a:latin typeface="Calibri"/>
              </a:rPr>
              <a:t>0.782 ± 0.0036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1396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D24"/>
                </a:solidFill>
                <a:latin typeface="Calibri"/>
              </a:rPr>
              <a:t>0.7848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13969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A1D24"/>
                </a:solidFill>
                <a:latin typeface="Calibri"/>
              </a:rPr>
              <a:t>0.2813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51760"/>
            <a:ext cx="11091672" cy="1270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834640"/>
            <a:ext cx="110916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D24"/>
                </a:solidFill>
                <a:latin typeface="Calibri"/>
              </a:rPr>
              <a:t>Model disagreement reveals where the scorecard loses 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918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D24"/>
                </a:solidFill>
                <a:latin typeface="Calibri"/>
              </a:rPr>
              <a:t>Both flag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2918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n=9,420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291840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4E52"/>
                </a:solidFill>
                <a:latin typeface="Calibri"/>
              </a:rPr>
              <a:t>24.18%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67588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D24"/>
                </a:solidFill>
                <a:latin typeface="Calibri"/>
              </a:rPr>
              <a:t>XGBoost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675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n=2,881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675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44E52"/>
                </a:solidFill>
                <a:latin typeface="Calibri"/>
              </a:rPr>
              <a:t>18.64%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59936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D24"/>
                </a:solidFill>
                <a:latin typeface="Calibri"/>
              </a:rPr>
              <a:t>Scorecard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40599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n=2,881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059936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F6B7A"/>
                </a:solidFill>
                <a:latin typeface="Calibri"/>
              </a:rPr>
              <a:t>8.57%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443984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D24"/>
                </a:solidFill>
                <a:latin typeface="Calibri"/>
              </a:rPr>
              <a:t>Both clear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44439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6B7A"/>
                </a:solidFill>
                <a:latin typeface="Calibri"/>
              </a:rPr>
              <a:t>n=46,321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443984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E7D5B"/>
                </a:solidFill>
                <a:latin typeface="Calibri"/>
              </a:rPr>
              <a:t>4.11%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246120"/>
            <a:ext cx="5056632" cy="2011680"/>
          </a:xfrm>
          <a:prstGeom prst="rect">
            <a:avLst/>
          </a:prstGeom>
          <a:solidFill>
            <a:srgbClr val="F4F6F8"/>
          </a:solidFill>
          <a:ln w="9525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3456432"/>
            <a:ext cx="4617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A1D24"/>
                </a:solidFill>
                <a:latin typeface="Calibri"/>
              </a:rPr>
              <a:t>XGBoost captures additional risk patterns that the additive scorecard misses.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480560"/>
            <a:ext cx="4617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5B"/>
                </a:solidFill>
                <a:latin typeface="Calibri"/>
              </a:rPr>
              <a:t>Therefore: XGBoost → ranking, Scorecard →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E7D5B"/>
                </a:solidFill>
                <a:latin typeface="Calibri"/>
              </a:rP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15568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dirty="0">
                <a:solidFill>
                  <a:srgbClr val="1A1D24"/>
                </a:solidFill>
                <a:latin typeface="Calibri"/>
              </a:rPr>
              <a:t>Same volume, same headcount - a materially safer 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07008"/>
            <a:ext cx="11091672" cy="19050"/>
          </a:xfrm>
          <a:prstGeom prst="rect">
            <a:avLst/>
          </a:prstGeom>
          <a:solidFill>
            <a:srgbClr val="D6D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A1D24"/>
                </a:solidFill>
                <a:latin typeface="Calibri"/>
              </a:rPr>
              <a:t>Potential impact if review capacity stays fixed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6675120" cy="2468880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0" y="18288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44E52"/>
                </a:solidFill>
                <a:latin typeface="Calibri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28800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2E7D5B"/>
                </a:solidFill>
                <a:latin typeface="Calibri"/>
              </a:rPr>
              <a:t>SIMULATED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5798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D24"/>
                </a:solidFill>
                <a:latin typeface="Calibri"/>
              </a:rPr>
              <a:t>Approved loans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57984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6B7A"/>
                </a:solidFill>
                <a:latin typeface="Calibri"/>
              </a:rPr>
              <a:t>52,278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157984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7D5B"/>
                </a:solidFill>
                <a:latin typeface="Calibri"/>
              </a:rPr>
              <a:t>52,278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7004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D24"/>
                </a:solidFill>
                <a:latin typeface="Calibri"/>
              </a:rPr>
              <a:t>Default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70048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6B7A"/>
                </a:solidFill>
                <a:latin typeface="Calibri"/>
              </a:rPr>
              <a:t>8.07%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670048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7D5B"/>
                </a:solidFill>
                <a:latin typeface="Calibri"/>
              </a:rPr>
              <a:t>4.91%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8211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D24"/>
                </a:solidFill>
                <a:latin typeface="Calibri"/>
              </a:rPr>
              <a:t>Review 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8211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6B7A"/>
                </a:solidFill>
                <a:latin typeface="Calibri"/>
              </a:rPr>
              <a:t>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182112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7D5B"/>
                </a:solidFill>
                <a:latin typeface="Calibri"/>
              </a:rPr>
              <a:t>26%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9417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A1D24"/>
                </a:solidFill>
                <a:latin typeface="Calibri"/>
              </a:rPr>
              <a:t>Credit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694176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F6B7A"/>
                </a:solidFill>
                <a:latin typeface="Calibri"/>
              </a:rPr>
              <a:t>IDR 68.6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694176"/>
            <a:ext cx="1463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2E7D5B"/>
                </a:solidFill>
                <a:latin typeface="Calibri"/>
              </a:rPr>
              <a:t>IDR 41.7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6675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dirty="0">
                <a:latin typeface="Calibri"/>
              </a:rPr>
              <a:t>Illustrative simulation using stated assumptions; not observed production impact.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1737360"/>
            <a:ext cx="4050791" cy="1170432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35824" y="1828800"/>
            <a:ext cx="375818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A"/>
                </a:solidFill>
                <a:latin typeface="Calibri"/>
              </a:rPr>
              <a:t>FEWER DEFAULTS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2048256"/>
            <a:ext cx="37581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E7D5B"/>
                </a:solidFill>
                <a:latin typeface="Calibri"/>
              </a:rPr>
              <a:t>39%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5824" y="2532888"/>
            <a:ext cx="37581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B7A"/>
                </a:solidFill>
                <a:latin typeface="Calibri"/>
              </a:rPr>
              <a:t>in the hold-out simulation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054096"/>
            <a:ext cx="4050791" cy="1170432"/>
          </a:xfrm>
          <a:prstGeom prst="rect">
            <a:avLst/>
          </a:prstGeom>
          <a:solidFill>
            <a:srgbClr val="F4F6F8"/>
          </a:solidFill>
          <a:ln w="952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35824" y="3145536"/>
            <a:ext cx="3758183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F6B7A"/>
                </a:solidFill>
                <a:latin typeface="Calibri"/>
              </a:rPr>
              <a:t>REVIEW PRECISION LIFT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4" y="3364992"/>
            <a:ext cx="375818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E7D5B"/>
                </a:solidFill>
                <a:latin typeface="Calibri"/>
              </a:rPr>
              <a:t>2.2×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5824" y="3849624"/>
            <a:ext cx="375818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6B7A"/>
                </a:solidFill>
                <a:latin typeface="Calibri"/>
              </a:rPr>
              <a:t>12% → 26% hit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4572000"/>
            <a:ext cx="4050791" cy="1554480"/>
          </a:xfrm>
          <a:prstGeom prst="rect">
            <a:avLst/>
          </a:prstGeom>
          <a:solidFill>
            <a:srgbClr val="F4F6F8"/>
          </a:solidFill>
          <a:ln w="9525">
            <a:solidFill>
              <a:srgbClr val="C44E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0" y="4700016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C44E52"/>
                </a:solidFill>
                <a:latin typeface="Calibri"/>
              </a:rPr>
              <a:t>LIMITATIONS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974336"/>
            <a:ext cx="36576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1A1D24"/>
                </a:solidFill>
                <a:latin typeface="Calibri"/>
              </a:rPr>
              <a:t>No probability calibration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1A1D24"/>
                </a:solidFill>
                <a:latin typeface="Calibri"/>
              </a:rPr>
              <a:t>Needs out-of-time validation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1A1D24"/>
                </a:solidFill>
                <a:latin typeface="Calibri"/>
              </a:rPr>
              <a:t>Actual portfolio economics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</TotalTime>
  <Words>420</Words>
  <Application>Microsoft Office PowerPoint</Application>
  <PresentationFormat>Widescreen</PresentationFormat>
  <Paragraphs>112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Kal K</cp:lastModifiedBy>
  <cp:revision>2</cp:revision>
  <dcterms:created xsi:type="dcterms:W3CDTF">2013-01-27T09:14:16Z</dcterms:created>
  <dcterms:modified xsi:type="dcterms:W3CDTF">2026-08-26T17:59:00Z</dcterms:modified>
  <cp:category/>
</cp:coreProperties>
</file>